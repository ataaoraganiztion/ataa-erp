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Throughput Comparison (req/sec)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 per Second</c:v>
                </c:pt>
              </c:strCache>
            </c:strRef>
          </c:tx>
          <c:spPr>
            <a:solidFill>
              <a:srgbClr val="B0BF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BF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.NET Framework 4.6.1</c:v>
                  </c:pt>
                  <c:pt idx="1">
                    <c:v>ASP.NET Core (.NET 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35000</c:v>
                </c:pt>
                <c:pt idx="1">
                  <c:v>300000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Relative Cost Over Time (Index)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(Current)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120</c:v>
                </c:pt>
                <c:pt idx="2">
                  <c:v>145</c:v>
                </c:pt>
                <c:pt idx="3">
                  <c:v>175</c:v>
                </c:pt>
                <c:pt idx="4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Post-Migration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140</c:v>
                </c:pt>
                <c:pt idx="1">
                  <c:v>75</c:v>
                </c:pt>
                <c:pt idx="2">
                  <c:v>65</c:v>
                </c:pt>
                <c:pt idx="3">
                  <c:v>60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09728"/>
            <a:ext cx="2926080" cy="5033772"/>
          </a:xfrm>
          <a:prstGeom prst="rect">
            <a:avLst/>
          </a:prstGeom>
          <a:solidFill>
            <a:srgbClr val="15225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0" y="109728"/>
            <a:ext cx="2651760" cy="5033772"/>
          </a:xfrm>
          <a:prstGeom prst="rect">
            <a:avLst/>
          </a:prstGeom>
          <a:solidFill>
            <a:srgbClr val="0E184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320040"/>
            <a:ext cx="219456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20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EXECUTIVE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Modernizing Our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Digital Foundation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Migrating from ASP.NET MVC 5 (.NET Framework 4.6.1)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to ASP.NET Core (.NET 8)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749040"/>
            <a:ext cx="420624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Performance  ·  Security  ·  Future Readiness  ·  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2F6B"/>
                </a:solidFill>
              </a:rPr>
              <a:t>2025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FA0"/>
                </a:solidFill>
              </a:rPr>
              <a:t>Technology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A5FA0"/>
                </a:solidFill>
              </a:rPr>
              <a:t>Migration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A5FA0"/>
                </a:solidFill>
              </a:rPr>
              <a:t>Roadmap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4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Engineering &amp; Architecture Team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2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63193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96112"/>
            <a:ext cx="54864" cy="777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</a:rPr>
              <a:t>Our current platform is approaching end of innovation — acting now is a strategic advantage, not an option.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828800"/>
            <a:ext cx="2834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828800"/>
            <a:ext cx="54864" cy="2834640"/>
          </a:xfrm>
          <a:prstGeom prst="rect">
            <a:avLst/>
          </a:prstGeom>
          <a:solidFill>
            <a:srgbClr val="E55A2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920240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93192" y="2542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3192" y="2926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ASP.NET MVC 5 on .NET Framework 4.6.1 has reached end-of-life. Security gaps, rising maintenance costs, and limited hiring talent are compounding risks.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1840" y="1828800"/>
            <a:ext cx="2834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91840" y="1828800"/>
            <a:ext cx="54864" cy="28346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2024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29000" y="2542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29000" y="2926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Migrate incrementally to ASP.NET Core (.NET 8) using the Strangler Pattern — low-risk, zero downtime, delivering value at every phase.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327648" y="1828800"/>
            <a:ext cx="2834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27648" y="1828800"/>
            <a:ext cx="54864" cy="283464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192024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64808" y="2542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Outcome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64808" y="2926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Up to 3× faster performance, 40% lower infrastructure costs, modern security, cloud-ready architecture, and a future-proof technology foundation.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Current System Challenges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3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8631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68680"/>
            <a:ext cx="54864" cy="685800"/>
          </a:xfrm>
          <a:prstGeom prst="rect">
            <a:avLst/>
          </a:prstGeom>
          <a:solidFill>
            <a:srgbClr val="E55A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669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941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Technical Debt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216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Years of patches and workarounds have created fragile, hard-to-change code that slows every new feature.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" y="1664208"/>
            <a:ext cx="8631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1664208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222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Slow Maintenance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05840" y="2011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Every bug fix and update takes significantly longer. Developers spend more time fighting the framework than solving business problems.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56032" y="2459736"/>
            <a:ext cx="8631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2459736"/>
            <a:ext cx="54864" cy="6858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77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Limited Scalability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005840" y="28072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The system cannot efficiently handle traffic spikes or horizontal scaling — risking downtime during peak demand.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56032" y="3255264"/>
            <a:ext cx="8631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" y="3255264"/>
            <a:ext cx="54864" cy="6858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8328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328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Outdated Architecture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005840" y="36027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System.Web — the core of .NET Framework — is tightly coupled and cannot be modernized without a platform upgrade.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56032" y="4050792"/>
            <a:ext cx="8631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56032" y="4050792"/>
            <a:ext cx="54864" cy="685800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78808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5840" y="4123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Hiring Difficulty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005840" y="43982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Top developers choose modern frameworks. Recruiting talent for end-of-life technology is costly and increasingly difficult.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5A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5A2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4 / 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5A2B"/>
                </a:solidFill>
              </a:rPr>
              <a:t>Risks of Not Migrating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8631936" cy="548640"/>
          </a:xfrm>
          <a:prstGeom prst="rect">
            <a:avLst/>
          </a:prstGeom>
          <a:solidFill>
            <a:srgbClr val="E55A2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77824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Inaction is not a safe choice — the cost of staying grows every quarter.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72768"/>
            <a:ext cx="41879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572768"/>
            <a:ext cx="4187952" cy="54864"/>
          </a:xfrm>
          <a:prstGeom prst="rect">
            <a:avLst/>
          </a:prstGeom>
          <a:solidFill>
            <a:srgbClr val="E55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3736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6112" y="17373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Security Vulnerabilities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" y="216712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.NET Framework 4.6.1 no longer receives security updates. Every unpatched CVE is potential exposure.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864" y="1572768"/>
            <a:ext cx="41879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26864" y="1572768"/>
            <a:ext cx="4187952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73736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66944" y="17373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Escalating Maintenance Costs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91456" y="216712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Legacy systems cost progressively more to maintain. Workarounds multiply while velocity shrinks.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6032" y="3145536"/>
            <a:ext cx="41879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145536"/>
            <a:ext cx="4187952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31012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6112" y="33101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Compatibility Dead Ends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20624" y="37398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Modern libraries, APIs, and cloud services are dropping support for .NET Framework — limiting our options.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26864" y="3145536"/>
            <a:ext cx="41879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26864" y="3145536"/>
            <a:ext cx="4187952" cy="54864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310128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66944" y="33101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Forced Emergency Rewrite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91456" y="37398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Continuing to delay increases the probability of a costly, high-risk big-bang rewrite in a crisis scenario.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Proposed Solution: Incremental Migration to ASP.NET Core (.NET 8)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5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8631936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77824"/>
            <a:ext cx="8449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Strategy: Strangler Pattern — Replace piece-by-piece, with zero downtime and continuous delivery of value.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536192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536192"/>
            <a:ext cx="2011680" cy="54864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664208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47472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Low Risk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263347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Incremental migration means the existing system stays live throughout the transition. No big-bang cutover.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32304" y="1536192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32304" y="1536192"/>
            <a:ext cx="201168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66420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23744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Proven Method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23744" y="263347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The Strangler Pattern is an industry-standard, battle-tested approach adopted by organizations worldwide.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08576" y="1536192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08576" y="1536192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66420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00016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Value at Every Step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00016" y="263347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Each completed module delivers immediate improvements in performance, security, and maintainability.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84848" y="1536192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84848" y="1536192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66420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76288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Fully Reversible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876288" y="263347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Phased approach allows us to pause, adjust, or rollback individual components without impacting the whole system.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Performance Improvements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6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2011680" cy="141732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6032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Faster Response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vs .NET Framework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868680"/>
            <a:ext cx="2011680" cy="14173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32304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32304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Less Memory Used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32304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Lower server overhead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868680"/>
            <a:ext cx="2011680" cy="1417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800%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08576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More Throughput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08576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Requests per second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84848" y="868680"/>
            <a:ext cx="2011680" cy="14173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84848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~40%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784848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 Savings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Fewer servers needed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56032" y="237744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5742432" y="2377440"/>
            <a:ext cx="314553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742432" y="2377440"/>
            <a:ext cx="54864" cy="2331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589788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Real-World Impact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897880" y="2816352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Faster pages = higher user satisfaction and conversion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Lower memory usage = fewer servers = direct cost savings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Better throughput = handles traffic spikes without extra spend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TechEmpower benchmarks confirm .NET 8 is among the world's fastest frameworks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Testing &amp; Quality Improvements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7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8631936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6868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Higher quality means fewer production incidents, lower support costs, and faster delivery of reliable features.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481328"/>
            <a:ext cx="8631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81328"/>
            <a:ext cx="54864" cy="566928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Built-in Dependency Injection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7552" y="179222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Clean, modular code architecture out of the box — no third-party wiring required. Easier to test and maintain.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032" y="2148840"/>
            <a:ext cx="8631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2148840"/>
            <a:ext cx="54864" cy="56692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552" y="2203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Improved Unit Testing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987552" y="245973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ASP.NET Core is designed for testability. Every component can be unit tested in isolation without spinning up a server.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6032" y="2816352"/>
            <a:ext cx="8631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816352"/>
            <a:ext cx="54864" cy="56692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79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7552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Integration Testing Support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87552" y="31272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Test the full request pipeline with built-in test host support — catch issues before they reach production.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56032" y="3483864"/>
            <a:ext cx="8631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56032" y="3483864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7530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87552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API Testing with Swagger/OpenAPI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87552" y="3794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Auto-generated interactive API documentation — speeds up QA, reduces misunderstandings, and supports team collaboration.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256032" y="4151376"/>
            <a:ext cx="8631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56032" y="4151376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42816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7552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Easier Debugging &amp; Monitoring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987552" y="44622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Rich telemetry, structured logging, and native integration with Application Insights, Datadog, and other platforms.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Developer Productivity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8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418795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54864" cy="1755648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207008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3272" y="12252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Cleaner Architecture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" y="177393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Minimal, focused APIs replace bloated System.Web — developers write less boilerplate and ship faster.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26864" y="1005840"/>
            <a:ext cx="418795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6864" y="1005840"/>
            <a:ext cx="54864" cy="175564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207008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04104" y="12252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Modern Tooling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91456" y="177393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Full Visual Studio 2022, VS Code, and JetBrains Rider support. Hot reload, AI coding assistants, and Docker integration.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56032" y="2944368"/>
            <a:ext cx="418795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2944368"/>
            <a:ext cx="54864" cy="175564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14553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3272" y="31638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Faster Development Cycles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20624" y="371246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Reduced build times, hot reload, and modern CI/CD integrations cut development-to-production time significantly.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26864" y="2944368"/>
            <a:ext cx="418795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26864" y="2944368"/>
            <a:ext cx="54864" cy="175564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145536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04104" y="31638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Easier Onboarding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91456" y="371246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New team members — and new hires — can be productive in days, not weeks. Industry-standard patterns lower the learning curve.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56032" y="4663440"/>
            <a:ext cx="8631936" cy="1645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3"/>
          <p:cNvSpPr/>
          <p:nvPr/>
        </p:nvSpPr>
        <p:spPr>
          <a:xfrm>
            <a:off x="347472" y="4663440"/>
            <a:ext cx="8449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Result: More features shipped faster, with fewer defects and lower overhead.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Scalability &amp; Cloud Readiness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9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863193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6868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ASP.NET Core is built for the cloud era — enabling scale, resilience, and flexibility without vendor lock-in.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481328"/>
            <a:ext cx="418795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81328"/>
            <a:ext cx="54864" cy="146304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645920"/>
            <a:ext cx="420624" cy="4206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9264" y="1645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Container Support (Docker &amp; Kubernetes)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" y="21214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Package and deploy reliably across any environment — on-premise, cloud, or hybrid. Eliminates 'works on my machine' issues.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864" y="1481328"/>
            <a:ext cx="418795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26864" y="1481328"/>
            <a:ext cx="54864" cy="14630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45920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0096" y="1645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Microservices Compatibility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91456" y="21214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Break large systems into independently deployable services. Each can be scaled, updated, or replaced without touching the rest.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6032" y="3127248"/>
            <a:ext cx="418795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127248"/>
            <a:ext cx="54864" cy="14630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291840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9264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Cloud-Native Architecture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20624" y="37673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First-class support for Azure, AWS, and Google Cloud. Native integration with managed databases, queues, and monitoring.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26864" y="3127248"/>
            <a:ext cx="418795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26864" y="3127248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291840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40096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Elastic Scaling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91456" y="37673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Scale out during peak demand and scale down when quiet — paying only for what you use, not idle capacity.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Security Enhancements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10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8631936" cy="47548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6868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 is not optional — modern threats demand modern defenses. .NET Framework 4.6.1 is no longer patched.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481328"/>
            <a:ext cx="86319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81328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527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Modern Authentication (JWT &amp; OAuth 2.0)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0120" y="17739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Industry-standard, token-based security built into the framework — supporting SSO, MFA, and third-party identity providers.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032" y="2130552"/>
            <a:ext cx="86319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2130552"/>
            <a:ext cx="54864" cy="54864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199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Built-in Security Protections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960120" y="24231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CSRF protection, data encryption, secure headers, and input validation are first-class framework features — not afterthoughts.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6032" y="2779776"/>
            <a:ext cx="86319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779776"/>
            <a:ext cx="54864" cy="5486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71216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0120" y="2825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Regular Microsoft Updates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60120" y="30723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.NET 8 is an LTS (Long Term Support) release with active security patches through November 2026 — and .NET 9/10 beyond.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56032" y="3429000"/>
            <a:ext cx="86319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56032" y="3429000"/>
            <a:ext cx="54864" cy="5486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2044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Compliance Ready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60120" y="37216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Built-in support for GDPR, HIPAA, and SOC 2 compliance patterns — reducing audit burden and legal risk.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256032" y="4078224"/>
            <a:ext cx="86319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56032" y="4078224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69664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0120" y="4123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Reduced Attack Surface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960120" y="43708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Modular, minimal-by-default architecture means only what you need is included — fewer components, fewer vulnerabilities.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Cost &amp; Return on Investment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11 / 15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86868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68112" y="868680"/>
            <a:ext cx="3419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68112" y="868680"/>
            <a:ext cx="54864" cy="3291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5623560" y="932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Projected Savings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23560" y="1417320"/>
            <a:ext cx="309067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23560" y="141732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5742432" y="1453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Infrastructure Cost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42432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~40% saved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23560" y="2020824"/>
            <a:ext cx="309067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23560" y="2020824"/>
            <a:ext cx="54864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5"/>
          <p:cNvSpPr/>
          <p:nvPr/>
        </p:nvSpPr>
        <p:spPr>
          <a:xfrm>
            <a:off x="574243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Maintenance Effort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42432" y="2267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~35% reduced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2624328"/>
            <a:ext cx="309067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23560" y="2624328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5742432" y="2660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Incident Response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742432" y="2871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~50% fewer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623560" y="3227832"/>
            <a:ext cx="309067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3227832"/>
            <a:ext cx="54864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5742432" y="3264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Server Licenses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742432" y="3474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Significant reduction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68112" y="388620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74151"/>
                </a:solidFill>
              </a:rPr>
              <a:t>ROI typically realized within 18–24 months post-migration.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56032" y="4315968"/>
            <a:ext cx="86319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56032" y="4315968"/>
            <a:ext cx="54864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33425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</a:rPr>
              <a:t>Every quarter we delay compounds the debt — migration investment is recovered faster than most expect.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Migration Strategy: Strangler Pattern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12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8631936" cy="47548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6868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Strangler Pattern replaces the old system gradually — the new grows around the old until it can be retired safely.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481328"/>
            <a:ext cx="863193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81328"/>
            <a:ext cx="64008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481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Prepare &amp; Assess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8105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Audit existing codebase, map dependencies, establish test coverage baseline, set up parallel .NET 8 project structure.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258568"/>
            <a:ext cx="863193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258568"/>
            <a:ext cx="640080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25856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313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Migrate Core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587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Move shared libraries, data access layers, and authentication to .NET 8. Run old and new side by side behind a routing layer.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863193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35808"/>
            <a:ext cx="640080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30358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Migrate UI Modules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364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Convert MVC controllers and views module by module. Each completed module is tested, deployed, and handed over.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813048"/>
            <a:ext cx="863193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813048"/>
            <a:ext cx="64008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381304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Retire Legacy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142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Once all modules are migrated and verified, decommission the legacy system. Full transition complete with zero downtime.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Risks &amp; Mitigation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13 / 15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68680"/>
          <a:ext cx="8631936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914400"/>
                <a:gridCol w="3877056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 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Migration complexity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Strangler Pattern keeps changes incremental and reversible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Team learning curve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Structured training, pair programming, and dedicated ramp-up 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Temporary productivity dip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Phased approach — team can stay productive while learning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Integration issues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Comprehensive integration test suite built before migration begins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Schedule overrun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Phase-based delivery with fixed scope per phase and buffer time built 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Timeline &amp; Delivery Phases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14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417320"/>
            <a:ext cx="8631936" cy="109728"/>
          </a:xfrm>
          <a:prstGeom prst="rect">
            <a:avLst/>
          </a:prstGeom>
          <a:solidFill>
            <a:srgbClr val="D5DCF0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307592"/>
            <a:ext cx="329184" cy="329184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69164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691640"/>
            <a:ext cx="54864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691640"/>
            <a:ext cx="2011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19476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4–6 Weeks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Discovery &amp; Setup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" y="265176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Codebase audit &amp; dependency mapping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Test baseline coverage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Environment setup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Team training kickoff</a:t>
            </a:r>
            <a:pPr indent="0" marL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55264" y="1307592"/>
            <a:ext cx="329184" cy="329184"/>
          </a:xfrm>
          <a:prstGeom prst="oval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32304" y="169164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32304" y="1691640"/>
            <a:ext cx="54864" cy="3017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2304" y="1691640"/>
            <a:ext cx="201168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2432304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32304" y="19476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8–12 Weeks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23744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Core Services Migration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05456" y="265176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Shared libraries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Data access layer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Authentication/auth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Routing layer live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31536" y="1307592"/>
            <a:ext cx="329184" cy="329184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8576" y="169164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1691640"/>
            <a:ext cx="54864" cy="3017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08576" y="1691640"/>
            <a:ext cx="20116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08576" y="19476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12–20 Weeks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Module-by-Module UI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1728" y="265176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MVC modules migrated one by one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Feature flags control rollout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Continuous testing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Progressive go-live</a:t>
            </a:r>
            <a:pPr indent="0" marL="0">
              <a:buNone/>
            </a:pP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07808" y="1307592"/>
            <a:ext cx="329184" cy="329184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84848" y="169164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84848" y="1691640"/>
            <a:ext cx="54864" cy="3017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6784848" y="1691640"/>
            <a:ext cx="20116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784848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84848" y="19476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4–6 Weeks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76288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Legacy Retirement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265176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Final validation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Legacy decommission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Performance tuning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Documentation &amp; handover</a:t>
            </a:r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4645152"/>
            <a:ext cx="8631936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4645152"/>
            <a:ext cx="54864" cy="1645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4645152"/>
            <a:ext cx="8449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Total estimated timeline: 28 – 44 weeks  |  Delivered in phases with value at each milestone  |  No production downtime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Before vs After: At a Glance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Migration to ASP.NET Core (.NET 8)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15 / 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68680"/>
          <a:ext cx="8631936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447288"/>
                <a:gridCol w="344728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❌  Current State (.NET Framework 4.6.1)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✅  Future State (ASP.NET Core .NET 8)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35K req/sec, high memory usage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300K+ req/sec, 40% less memory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Maintainability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Fragile, tightly coupled 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Clean, modular, testable architecture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Scalability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Limited to single-server growth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Horizontal scale, containers, cloud-native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Security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No active patches, legacy auth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JWT/OAuth, active LTS patches, compliance-ready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Hiring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Niche skill set, high recruiting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Mainstream .NET 8, large talent pool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Infrastructure $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High server count, idle capacity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~40% lower, elastic scaling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Development Speed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Slow, high-friction releases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CI/CD, hot reload, fast iterations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4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Engineering &amp; Architecture Team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Our Recommendation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Approve the Migration.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Now is the Right Time.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16459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237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4871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risk of staying on the legacy platform grows every quarter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62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29260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migration strategy is incremental, controlled, and low-risk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015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336499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ROI is realized within 18–24 months through reduced infrastructure and maintenance costs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404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4672" y="380390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Modern security, scalability, and talent access are unlocked from day one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79392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4672" y="424281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Every month of delay is a month of compounding risk and missed opportunity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11480" y="4663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Requested Decision: Approve Phase 1 to Begin →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 Core Migration — Executive Presentation</dc:title>
  <dc:subject>PptxGenJS Presentation</dc:subject>
  <dc:creator>Engineering &amp; Architecture Team</dc:creator>
  <cp:lastModifiedBy>Engineering &amp; Architecture Team</cp:lastModifiedBy>
  <cp:revision>1</cp:revision>
  <dcterms:created xsi:type="dcterms:W3CDTF">2026-04-07T15:52:05Z</dcterms:created>
  <dcterms:modified xsi:type="dcterms:W3CDTF">2026-04-07T15:52:05Z</dcterms:modified>
</cp:coreProperties>
</file>